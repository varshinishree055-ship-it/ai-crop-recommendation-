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882" r:id="rId1"/>
  </p:sldMasterIdLst>
  <p:notesMasterIdLst>
    <p:notesMasterId r:id="rId8"/>
  </p:notesMasterIdLst>
  <p:sldIdLst>
    <p:sldId id="291" r:id="rId2"/>
    <p:sldId id="281" r:id="rId3"/>
    <p:sldId id="290" r:id="rId4"/>
    <p:sldId id="293" r:id="rId5"/>
    <p:sldId id="294" r:id="rId6"/>
    <p:sldId id="296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5115D"/>
    <a:srgbClr val="010000"/>
    <a:srgbClr val="9BBB59"/>
    <a:srgbClr val="39B0D4"/>
    <a:srgbClr val="727272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78" y="6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9/23/2025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dirty="0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1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0792E3-D524-454C-8AFD-A91972900BCB}" type="datetime1">
              <a:rPr lang="en-US" smtClean="0"/>
              <a:t>9/23/2025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7E1BAA-A38D-40DE-B22C-DF9BD7D82058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272279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8B7524-32A2-4C20-A58C-BC3BAA1042FC}" type="datetime1">
              <a:rPr lang="en-US" smtClean="0"/>
              <a:t>9/23/2025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34787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994447-D6B2-43BB-A877-57F1A267B999}" type="datetime1">
              <a:rPr lang="en-US" smtClean="0"/>
              <a:t>9/23/2025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DB31D2-2A87-4F4C-A9AD-05C6CC2B321D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607875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8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20E16-BD35-483C-AA6B-346FC7E46DEA}" type="datetime1">
              <a:rPr lang="en-US" smtClean="0"/>
              <a:t>9/23/2025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FC16D9-1635-4844-816A-0A8A2160FAD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28431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EAC6F8-5103-4FC0-A69E-5C6AE6469DA8}" type="datetime1">
              <a:rPr lang="en-US" smtClean="0"/>
              <a:t>9/23/2025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C4100A-98DE-4944-910A-A93F5CA9F72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64142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0C6921-0627-4C8F-83D5-0CF936D2FFDD}" type="datetime1">
              <a:rPr lang="en-US" smtClean="0"/>
              <a:t>9/23/2025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63342B-5A73-45DC-864D-086DE78037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47662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F08AD7-8103-40F8-983C-E2BA6BB9CBE0}" type="datetime1">
              <a:rPr lang="en-US" smtClean="0"/>
              <a:t>9/23/2025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35AFB3-1ACD-44AC-8702-86B1729DF03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57828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DF8C06B4-9380-4A4D-AF49-A3596E17DAF5}" type="datetime1">
              <a:rPr lang="en-US" smtClean="0"/>
              <a:t>9/23/2025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05CF15F3-5E77-4C57-9E21-50D6D1D6C02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90699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645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solidFill>
            <a:schemeClr val="bg2">
              <a:lumMod val="90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4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7FDEF1-C582-4E22-9E77-D68326471F28}" type="datetime1">
              <a:rPr lang="en-US" smtClean="0"/>
              <a:t>9/23/2025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42169A-B3C7-4FB6-967F-AF95F4EB331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63165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3C3A68-6922-42D3-8905-ECC2D82A3469}" type="datetime1">
              <a:rPr lang="en-US" smtClean="0"/>
              <a:t>9/23/2025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DD027-5576-4F27-AAB6-1D994836EE7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52424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2302"/>
            <a:ext cx="2628900" cy="575989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2302"/>
            <a:ext cx="7734300" cy="5759898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69E9F4-7604-4950-A8B2-8ACDEDB1506E}" type="datetime1">
              <a:rPr lang="en-US" smtClean="0"/>
              <a:t>9/23/2025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57CE61-8714-431B-A40A-01B1C5541AB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28181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6334316"/>
            <a:ext cx="12191985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780A9602-A9A9-453F-AEF1-37B5837E02CD}" type="datetime1">
              <a:rPr lang="en-US" smtClean="0"/>
              <a:t>9/23/2025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1411BA53-830D-4830-BB65-E58DBE17D0B7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75909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83" r:id="rId1"/>
    <p:sldLayoutId id="2147483884" r:id="rId2"/>
    <p:sldLayoutId id="2147483885" r:id="rId3"/>
    <p:sldLayoutId id="2147483886" r:id="rId4"/>
    <p:sldLayoutId id="2147483887" r:id="rId5"/>
    <p:sldLayoutId id="2147483888" r:id="rId6"/>
    <p:sldLayoutId id="2147483889" r:id="rId7"/>
    <p:sldLayoutId id="2147483890" r:id="rId8"/>
    <p:sldLayoutId id="2147483891" r:id="rId9"/>
    <p:sldLayoutId id="2147483892" r:id="rId10"/>
    <p:sldLayoutId id="2147483893" r:id="rId11"/>
  </p:sldLayoutIdLst>
  <p:hf hd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hyperlink" Target="https://plantix.net/en/" TargetMode="External"/><Relationship Id="rId3" Type="http://schemas.openxmlformats.org/officeDocument/2006/relationships/image" Target="../media/image1.png"/><Relationship Id="rId7" Type="http://schemas.openxmlformats.org/officeDocument/2006/relationships/hyperlink" Target="https://www.google.com/?olud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jpg"/><Relationship Id="rId5" Type="http://schemas.openxmlformats.org/officeDocument/2006/relationships/hyperlink" Target="https://shalima17.github.io/Cropify/" TargetMode="External"/><Relationship Id="rId10" Type="http://schemas.openxmlformats.org/officeDocument/2006/relationships/image" Target="../media/image6.png"/><Relationship Id="rId4" Type="http://schemas.openxmlformats.org/officeDocument/2006/relationships/image" Target="../media/image3.png"/><Relationship Id="rId9" Type="http://schemas.openxmlformats.org/officeDocument/2006/relationships/image" Target="../media/image5.jp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jpg"/><Relationship Id="rId3" Type="http://schemas.openxmlformats.org/officeDocument/2006/relationships/image" Target="../media/image1.png"/><Relationship Id="rId7" Type="http://schemas.openxmlformats.org/officeDocument/2006/relationships/image" Target="../media/image10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jpg"/><Relationship Id="rId5" Type="http://schemas.openxmlformats.org/officeDocument/2006/relationships/image" Target="../media/image8.jpg"/><Relationship Id="rId10" Type="http://schemas.openxmlformats.org/officeDocument/2006/relationships/image" Target="../media/image13.jpg"/><Relationship Id="rId4" Type="http://schemas.openxmlformats.org/officeDocument/2006/relationships/image" Target="../media/image3.png"/><Relationship Id="rId9" Type="http://schemas.openxmlformats.org/officeDocument/2006/relationships/image" Target="../media/image12.jp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hyperlink" Target="A.%20Sharma,%20M.%20Bhargava%20and%20A.%20V.%20Khanna,%20%22AI-Farm:%20A%20crop%20recommendation%20system,%22%202021%20International%20Conference%20on%20Advances%20in%20Computing%20and%20Communications%20(ICACC),%20Kochi,%20Kakkanad,%20India,%202021,%20pp.%201-7,%20doi:%2010.1109/ICACC-202152719.2021.9708104." TargetMode="External"/><Relationship Id="rId3" Type="http://schemas.openxmlformats.org/officeDocument/2006/relationships/image" Target="../media/image1.png"/><Relationship Id="rId7" Type="http://schemas.openxmlformats.org/officeDocument/2006/relationships/hyperlink" Target="M.%20Ravindra%20Kumar,%20C.%20Mohan%20Babu,%20S.%20Likhitha,%20N.%20Pruthvi,%20N.%20Nayana%20and%20R.%20M.%20Meghana,%20%22An%20AI-Based%20Guiding%20System%20That%20Recommends%20the%20Optimal%20Crop%20Based%20On%20the%20Environment%20and%20Soil%20Type,%22&#160;2025%20International%20Conference%20on%20Knowledge%20Engineering%20and%20Communication%20Systems%20(ICKECS),%20Chickballapur,%20India,%202025,%20pp.%201-5,%20doi:%2010.1109/ICKECS65700.2025.11034869.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hyperlink" Target="M.%20S.%20Ali,%20B.%20Rohit,%20R.%20Roshith,%20V.%20Biradar%20and%20M.%20A.%20Jabbar,%20%22Crop%20Prediction%20&amp;%20Fertilizer%20Recommendation%20using%20AODE%20Algorithm,%22%202024%20IEEE%209th%20International%20Conference%20for%20Convergence%20in%20Technology%20(I2CT),%20Pune,%20India,%202024,%20pp.%201-5,%20doi:%2010.1109/I2CT61223.2024.10543894.%20keywords:%20%7bProductivity;Training;Machine%20learning%20algorithms;Sociology;Prediction%20algorithms;Data%20models;Resource%20management;Crop%20prediction;Fertilizer%20Recommendation;AODE%20algorithm;Machinelearning;Precision%20agriculture;Decision%20support%20system;Crop%20productivity;Sustainable%20agriculture%7d," TargetMode="External"/><Relationship Id="rId5" Type="http://schemas.openxmlformats.org/officeDocument/2006/relationships/hyperlink" Target="https://shalima17.github.io/Cropify/" TargetMode="External"/><Relationship Id="rId4" Type="http://schemas.openxmlformats.org/officeDocument/2006/relationships/image" Target="../media/image3.png"/><Relationship Id="rId9" Type="http://schemas.openxmlformats.org/officeDocument/2006/relationships/image" Target="../media/image14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2026565" y="505074"/>
            <a:ext cx="7599215" cy="650291"/>
          </a:xfrm>
        </p:spPr>
        <p:txBody>
          <a:bodyPr>
            <a:noAutofit/>
          </a:bodyPr>
          <a:lstStyle/>
          <a:p>
            <a:r>
              <a:rPr lang="en-US" sz="36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2025</a:t>
            </a:r>
            <a:endParaRPr lang="en-IN" sz="36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pic>
        <p:nvPicPr>
          <p:cNvPr id="1026" name="Picture 2" descr="https://www.sih.gov.in/img1/SIH-Logo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04439" y="207785"/>
            <a:ext cx="2300748" cy="1012723"/>
          </a:xfrm>
          <a:prstGeom prst="rect">
            <a:avLst/>
          </a:prstGeom>
          <a:noFill/>
          <a:effectLst>
            <a:glow rad="139700">
              <a:schemeClr val="accent1">
                <a:satMod val="175000"/>
                <a:alpha val="40000"/>
              </a:schemeClr>
            </a:glow>
            <a:outerShdw blurRad="76200" dir="18900000" sy="23000" kx="-1200000" algn="bl" rotWithShape="0">
              <a:prstClr val="black">
                <a:alpha val="2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5CB21B11-9AC0-FB7A-3F14-F1F492207E98}"/>
              </a:ext>
            </a:extLst>
          </p:cNvPr>
          <p:cNvSpPr txBox="1"/>
          <p:nvPr/>
        </p:nvSpPr>
        <p:spPr>
          <a:xfrm>
            <a:off x="3482927" y="2091869"/>
            <a:ext cx="8799580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rgbClr val="C00000"/>
                </a:solidFill>
                <a:latin typeface="+mj-lt"/>
                <a:cs typeface="Arial" panose="020B0604020202020204" pitchFamily="34" charset="0"/>
              </a:rPr>
              <a:t>AI-Based Crop Recommendation for Farmers</a:t>
            </a:r>
            <a:endParaRPr lang="en-US" sz="3200" b="1" dirty="0">
              <a:solidFill>
                <a:srgbClr val="C00000"/>
              </a:solidFill>
              <a:latin typeface="+mj-lt"/>
              <a:cs typeface="Arial" panose="020B0604020202020204" pitchFamily="34" charset="0"/>
            </a:endParaRPr>
          </a:p>
          <a:p>
            <a:r>
              <a:rPr lang="en-US" sz="1600" b="1" dirty="0">
                <a:solidFill>
                  <a:srgbClr val="010000"/>
                </a:solidFill>
                <a:latin typeface="Aptos Narrow" panose="020B0004020202020204" pitchFamily="34" charset="0"/>
              </a:rPr>
              <a:t>     🌱 </a:t>
            </a:r>
            <a:r>
              <a:rPr lang="en-US" sz="1600" dirty="0">
                <a:solidFill>
                  <a:srgbClr val="010000"/>
                </a:solidFill>
                <a:latin typeface="Aptos Narrow" panose="020B0004020202020204" pitchFamily="34" charset="0"/>
              </a:rPr>
              <a:t>Empowering farmers with AI-driven solutions for better yield and sustainability.</a:t>
            </a:r>
            <a:endParaRPr lang="en-IN" sz="1600" dirty="0">
              <a:solidFill>
                <a:srgbClr val="010000"/>
              </a:solidFill>
              <a:latin typeface="Aptos Narrow" panose="020B000402020202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C70D514-C8E0-5B94-759A-E73F4C4EDC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7147" y="207785"/>
            <a:ext cx="1455065" cy="1152525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17EDFA8-FD9A-6A0F-DD84-9C5388693D0D}"/>
              </a:ext>
            </a:extLst>
          </p:cNvPr>
          <p:cNvSpPr txBox="1"/>
          <p:nvPr/>
        </p:nvSpPr>
        <p:spPr>
          <a:xfrm>
            <a:off x="52180" y="2312159"/>
            <a:ext cx="343074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      </a:t>
            </a: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–</a:t>
            </a:r>
            <a:endParaRPr lang="en-IN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FF51FBB-2995-EE82-D66F-C49577E97CF8}"/>
              </a:ext>
            </a:extLst>
          </p:cNvPr>
          <p:cNvSpPr txBox="1"/>
          <p:nvPr/>
        </p:nvSpPr>
        <p:spPr>
          <a:xfrm>
            <a:off x="64059" y="3109698"/>
            <a:ext cx="39278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ID </a:t>
            </a: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 –</a:t>
            </a:r>
            <a:endParaRPr lang="en-IN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FDCF566-A281-DC6A-6FD1-110C8A45E564}"/>
              </a:ext>
            </a:extLst>
          </p:cNvPr>
          <p:cNvSpPr txBox="1"/>
          <p:nvPr/>
        </p:nvSpPr>
        <p:spPr>
          <a:xfrm>
            <a:off x="7624915" y="4708743"/>
            <a:ext cx="3608439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latin typeface="Aptos Narrow" panose="020B0004020202020204" pitchFamily="34" charset="0"/>
              </a:rPr>
              <a:t>Team Name   : </a:t>
            </a:r>
            <a:r>
              <a:rPr lang="en-IN" b="1" dirty="0">
                <a:solidFill>
                  <a:schemeClr val="accent1">
                    <a:lumMod val="75000"/>
                  </a:schemeClr>
                </a:solidFill>
                <a:latin typeface="Aptos Narrow" panose="020B0004020202020204" pitchFamily="34" charset="0"/>
              </a:rPr>
              <a:t>AGRI INNOVATORS</a:t>
            </a:r>
          </a:p>
          <a:p>
            <a:r>
              <a:rPr lang="en-IN" b="1" dirty="0">
                <a:latin typeface="Aptos Narrow" panose="020B0004020202020204" pitchFamily="34" charset="0"/>
              </a:rPr>
              <a:t>Team Leader : S. Vidhya</a:t>
            </a:r>
          </a:p>
          <a:p>
            <a:r>
              <a:rPr lang="en-IN" b="1" dirty="0">
                <a:latin typeface="Aptos Narrow" panose="020B0004020202020204" pitchFamily="34" charset="0"/>
              </a:rPr>
              <a:t>Teammates   : R. Zynab Shalima,</a:t>
            </a:r>
          </a:p>
          <a:p>
            <a:r>
              <a:rPr lang="en-IN" b="1" dirty="0">
                <a:latin typeface="Aptos Narrow" panose="020B0004020202020204" pitchFamily="34" charset="0"/>
              </a:rPr>
              <a:t>                        A. SriVarshini,</a:t>
            </a:r>
          </a:p>
          <a:p>
            <a:r>
              <a:rPr lang="en-IN" b="1" dirty="0">
                <a:latin typeface="Aptos Narrow" panose="020B0004020202020204" pitchFamily="34" charset="0"/>
              </a:rPr>
              <a:t>                        S. Yuvaraj,</a:t>
            </a:r>
          </a:p>
          <a:p>
            <a:r>
              <a:rPr lang="en-IN" b="1" dirty="0">
                <a:latin typeface="Aptos Narrow" panose="020B0004020202020204" pitchFamily="34" charset="0"/>
              </a:rPr>
              <a:t>                        M. Vishnu,</a:t>
            </a:r>
          </a:p>
          <a:p>
            <a:r>
              <a:rPr lang="en-IN" b="1" dirty="0">
                <a:latin typeface="Aptos Narrow" panose="020B0004020202020204" pitchFamily="34" charset="0"/>
              </a:rPr>
              <a:t>                         P. Sanjai Kumar.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7D01D9D-FC44-4A91-D94C-1DB4A14C3488}"/>
              </a:ext>
            </a:extLst>
          </p:cNvPr>
          <p:cNvSpPr txBox="1"/>
          <p:nvPr/>
        </p:nvSpPr>
        <p:spPr>
          <a:xfrm>
            <a:off x="73219" y="3446859"/>
            <a:ext cx="8201732" cy="12618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 </a:t>
            </a:r>
            <a:r>
              <a:rPr lang="en-US" sz="2000" b="1" dirty="0">
                <a:latin typeface="Aptos Narrow" panose="020B0004020202020204" pitchFamily="34" charset="0"/>
              </a:rPr>
              <a:t>Theme</a:t>
            </a:r>
            <a:r>
              <a:rPr lang="en-US" sz="2000" dirty="0">
                <a:latin typeface="Aptos Narrow" panose="020B0004020202020204" pitchFamily="34" charset="0"/>
              </a:rPr>
              <a:t>:  </a:t>
            </a:r>
            <a:r>
              <a:rPr lang="en-US" b="1" dirty="0"/>
              <a:t>Agriculture, Food Tech &amp; Rural Development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 </a:t>
            </a:r>
            <a:r>
              <a:rPr lang="en-US" sz="2000" b="1" dirty="0">
                <a:latin typeface="Aptos Narrow" panose="020B0004020202020204" pitchFamily="34" charset="0"/>
              </a:rPr>
              <a:t>PS Category:  </a:t>
            </a:r>
            <a:r>
              <a:rPr lang="en-US" b="1" dirty="0"/>
              <a:t>Software</a:t>
            </a:r>
            <a:endParaRPr lang="en-IN" b="1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CA8243D-2FAB-5A83-6260-2DE3DFC1E2E5}"/>
              </a:ext>
            </a:extLst>
          </p:cNvPr>
          <p:cNvSpPr txBox="1"/>
          <p:nvPr/>
        </p:nvSpPr>
        <p:spPr>
          <a:xfrm>
            <a:off x="3482927" y="3078920"/>
            <a:ext cx="193695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C00000"/>
                </a:solidFill>
              </a:rPr>
              <a:t>SIH25030</a:t>
            </a:r>
            <a:endParaRPr lang="en-IN" sz="2400" dirty="0">
              <a:solidFill>
                <a:srgbClr val="C00000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pic>
        <p:nvPicPr>
          <p:cNvPr id="12" name="Picture 2" descr="https://www.sih.gov.in/img1/SIH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1366" y="57097"/>
            <a:ext cx="2209120" cy="1122868"/>
          </a:xfrm>
          <a:prstGeom prst="rect">
            <a:avLst/>
          </a:prstGeom>
          <a:noFill/>
          <a:effectLst>
            <a:glow rad="139700">
              <a:schemeClr val="accent1">
                <a:satMod val="175000"/>
                <a:alpha val="40000"/>
              </a:schemeClr>
            </a:glo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7C0A9554-F232-A561-DA90-51A857BEA78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" y="1"/>
            <a:ext cx="2054942" cy="978621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90C524AB-0861-E56C-56C3-C0CDB9C28315}"/>
              </a:ext>
            </a:extLst>
          </p:cNvPr>
          <p:cNvSpPr txBox="1"/>
          <p:nvPr/>
        </p:nvSpPr>
        <p:spPr>
          <a:xfrm>
            <a:off x="382572" y="1297431"/>
            <a:ext cx="4475445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/>
              <a:t>A </a:t>
            </a:r>
            <a:r>
              <a:rPr lang="en-IN" sz="2000" dirty="0">
                <a:solidFill>
                  <a:schemeClr val="accent3">
                    <a:lumMod val="50000"/>
                  </a:schemeClr>
                </a:solidFill>
              </a:rPr>
              <a:t>Farmer-friendly WEB-APP </a:t>
            </a:r>
            <a:r>
              <a:rPr lang="en-IN" sz="2000" dirty="0"/>
              <a:t>that takes inputs like: Soil type, Soil pH, Rainfall, Temperature, Season. 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5AAFC23-5738-8731-231C-318243B5324E}"/>
              </a:ext>
            </a:extLst>
          </p:cNvPr>
          <p:cNvSpPr txBox="1"/>
          <p:nvPr/>
        </p:nvSpPr>
        <p:spPr>
          <a:xfrm>
            <a:off x="382572" y="2641670"/>
            <a:ext cx="5094309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b="1" u="sng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Collects farm input data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Uses AI &amp; workflow automation (n8n) for decision-making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Suggests most suitable crops with details (growth duration, market price, water requirement, etc.)</a:t>
            </a:r>
            <a:endParaRPr lang="en-IN" b="1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73CBFAC-D915-A26B-1CA8-6AE6B412D96A}"/>
              </a:ext>
            </a:extLst>
          </p:cNvPr>
          <p:cNvSpPr txBox="1"/>
          <p:nvPr/>
        </p:nvSpPr>
        <p:spPr>
          <a:xfrm>
            <a:off x="157037" y="2480556"/>
            <a:ext cx="327414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/>
              <a:t>Our Web Application that:</a:t>
            </a:r>
          </a:p>
        </p:txBody>
      </p:sp>
      <p:sp>
        <p:nvSpPr>
          <p:cNvPr id="17" name="TextBox 16">
            <a:hlinkClick r:id="rId5"/>
            <a:extLst>
              <a:ext uri="{FF2B5EF4-FFF2-40B4-BE49-F238E27FC236}">
                <a16:creationId xmlns:a16="http://schemas.microsoft.com/office/drawing/2014/main" id="{0F8F271F-EB89-C31A-ACC6-F07521639D3B}"/>
              </a:ext>
            </a:extLst>
          </p:cNvPr>
          <p:cNvSpPr txBox="1"/>
          <p:nvPr/>
        </p:nvSpPr>
        <p:spPr>
          <a:xfrm>
            <a:off x="6000407" y="5866111"/>
            <a:ext cx="57518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err="1"/>
              <a:t>Cropify</a:t>
            </a:r>
            <a:r>
              <a:rPr lang="en-IN" dirty="0"/>
              <a:t> Web App: </a:t>
            </a:r>
            <a:r>
              <a:rPr lang="en-IN" u="sng" dirty="0">
                <a:solidFill>
                  <a:srgbClr val="15115D"/>
                </a:solidFill>
              </a:rPr>
              <a:t>https://shalima17.github.io/Cropify/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864430D-63EB-F155-0F7A-2556A550F19F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16487" t="12760" r="17319"/>
          <a:stretch>
            <a:fillRect/>
          </a:stretch>
        </p:blipFill>
        <p:spPr>
          <a:xfrm>
            <a:off x="5271290" y="1284988"/>
            <a:ext cx="6920709" cy="4476100"/>
          </a:xfrm>
          <a:prstGeom prst="rect">
            <a:avLst/>
          </a:prstGeom>
        </p:spPr>
      </p:pic>
      <p:sp>
        <p:nvSpPr>
          <p:cNvPr id="10" name="TextBox 9">
            <a:hlinkClick r:id="rId7"/>
            <a:extLst>
              <a:ext uri="{FF2B5EF4-FFF2-40B4-BE49-F238E27FC236}">
                <a16:creationId xmlns:a16="http://schemas.microsoft.com/office/drawing/2014/main" id="{86504B4E-B038-A0B3-4A5F-48A4F8AB501D}"/>
              </a:ext>
            </a:extLst>
          </p:cNvPr>
          <p:cNvSpPr txBox="1"/>
          <p:nvPr/>
        </p:nvSpPr>
        <p:spPr>
          <a:xfrm>
            <a:off x="2035876" y="5330147"/>
            <a:ext cx="346095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</a:t>
            </a:r>
            <a:r>
              <a:rPr lang="en-US" dirty="0">
                <a:solidFill>
                  <a:srgbClr val="15115D"/>
                </a:solidFill>
                <a:hlinkClick r:id="rId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https://plantix.net/en/</a:t>
            </a:r>
            <a:endParaRPr lang="en-US" dirty="0">
              <a:solidFill>
                <a:srgbClr val="15115D"/>
              </a:solidFill>
            </a:endParaRPr>
          </a:p>
          <a:p>
            <a:endParaRPr lang="en-US" dirty="0">
              <a:solidFill>
                <a:srgbClr val="15115D"/>
              </a:solidFill>
            </a:endParaRPr>
          </a:p>
          <a:p>
            <a:r>
              <a:rPr lang="en-IN" u="sng" dirty="0">
                <a:solidFill>
                  <a:srgbClr val="15115D"/>
                </a:solidFill>
              </a:rPr>
              <a:t>https://www.google.com/?olud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88FAAEB-7034-7ECD-EA26-100F78A80748}"/>
              </a:ext>
            </a:extLst>
          </p:cNvPr>
          <p:cNvSpPr txBox="1"/>
          <p:nvPr/>
        </p:nvSpPr>
        <p:spPr>
          <a:xfrm>
            <a:off x="176981" y="4725507"/>
            <a:ext cx="30685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Already Existing Apps:</a:t>
            </a:r>
            <a:endParaRPr lang="en-IN" b="1"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21B1C4B3-8D8C-7B04-8B4C-2181EF38400D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69836" y="5183542"/>
            <a:ext cx="1192530" cy="646331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82167E69-32B7-579B-ACD8-7B226EA558AD}"/>
              </a:ext>
            </a:extLst>
          </p:cNvPr>
          <p:cNvPicPr>
            <a:picLocks noChangeAspect="1"/>
          </p:cNvPicPr>
          <p:nvPr/>
        </p:nvPicPr>
        <p:blipFill>
          <a:blip r:embed="rId10"/>
          <a:srcRect l="9723" t="37544" r="10462" b="37859"/>
          <a:stretch>
            <a:fillRect/>
          </a:stretch>
        </p:blipFill>
        <p:spPr>
          <a:xfrm>
            <a:off x="157037" y="5829873"/>
            <a:ext cx="1740870" cy="507213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FAA31CEE-7C5C-93C0-CB63-150FD326808B}"/>
              </a:ext>
            </a:extLst>
          </p:cNvPr>
          <p:cNvSpPr txBox="1"/>
          <p:nvPr/>
        </p:nvSpPr>
        <p:spPr>
          <a:xfrm>
            <a:off x="3911052" y="302615"/>
            <a:ext cx="496529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PROPOSED SOLUTION</a:t>
            </a:r>
            <a:endParaRPr lang="en-IN" sz="3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3238543" y="321171"/>
            <a:ext cx="5411675" cy="557395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TECHNICAL  APPROACH</a:t>
            </a: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pic>
        <p:nvPicPr>
          <p:cNvPr id="9" name="Picture 2" descr="https://www.sih.gov.in/img1/SIH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1366" y="57097"/>
            <a:ext cx="2209120" cy="1122868"/>
          </a:xfrm>
          <a:prstGeom prst="rect">
            <a:avLst/>
          </a:prstGeom>
          <a:noFill/>
          <a:effectLst>
            <a:glow rad="139700">
              <a:schemeClr val="accent1">
                <a:satMod val="175000"/>
                <a:alpha val="40000"/>
              </a:schemeClr>
            </a:glo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759832D2-4FC8-0AAD-1123-C8B68A80180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" y="1"/>
            <a:ext cx="2054942" cy="978621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42F6A191-F68A-36E9-152D-D1B90AD95011}"/>
              </a:ext>
            </a:extLst>
          </p:cNvPr>
          <p:cNvSpPr txBox="1"/>
          <p:nvPr/>
        </p:nvSpPr>
        <p:spPr>
          <a:xfrm>
            <a:off x="206478" y="1312142"/>
            <a:ext cx="262128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u="sng" dirty="0"/>
              <a:t>Technologies</a:t>
            </a:r>
            <a:r>
              <a:rPr lang="en-IN" b="1" u="sng" dirty="0"/>
              <a:t> </a:t>
            </a:r>
            <a:r>
              <a:rPr lang="en-IN" sz="2000" b="1" u="sng" dirty="0"/>
              <a:t>Used:</a:t>
            </a:r>
            <a:endParaRPr lang="en-IN" b="1" u="sng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7EC2B48-09DC-147C-70D4-127E50C91AB3}"/>
              </a:ext>
            </a:extLst>
          </p:cNvPr>
          <p:cNvSpPr txBox="1"/>
          <p:nvPr/>
        </p:nvSpPr>
        <p:spPr>
          <a:xfrm>
            <a:off x="539300" y="1853435"/>
            <a:ext cx="4576915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Frontend:</a:t>
            </a:r>
            <a:r>
              <a:rPr lang="en-IN" sz="2000" dirty="0"/>
              <a:t> HTML, CSS, JavaScript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Workflow:</a:t>
            </a:r>
            <a:r>
              <a:rPr lang="en-IN" sz="2000" dirty="0"/>
              <a:t> n8n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AI Model: </a:t>
            </a:r>
            <a:r>
              <a:rPr lang="en-IN" sz="2000" dirty="0"/>
              <a:t>Google Gemini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Database/Memory: </a:t>
            </a:r>
            <a:r>
              <a:rPr lang="en-IN" sz="2000" dirty="0"/>
              <a:t>Webhooks &amp;</a:t>
            </a:r>
          </a:p>
          <a:p>
            <a:r>
              <a:rPr lang="en-IN" sz="2000" dirty="0"/>
              <a:t>                                          Simple memory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2E400B55-EEF9-6837-30BE-9211C1B7C0FE}"/>
              </a:ext>
            </a:extLst>
          </p:cNvPr>
          <p:cNvSpPr txBox="1"/>
          <p:nvPr/>
        </p:nvSpPr>
        <p:spPr>
          <a:xfrm>
            <a:off x="206478" y="3621173"/>
            <a:ext cx="323481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u="sng" dirty="0"/>
              <a:t>Methodology</a:t>
            </a:r>
            <a:r>
              <a:rPr lang="en-IN" b="1" u="sng" dirty="0"/>
              <a:t>: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1544E43B-6C72-831E-5184-18919AA253D1}"/>
              </a:ext>
            </a:extLst>
          </p:cNvPr>
          <p:cNvSpPr txBox="1"/>
          <p:nvPr/>
        </p:nvSpPr>
        <p:spPr>
          <a:xfrm>
            <a:off x="499711" y="4272903"/>
            <a:ext cx="5385739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/>
              <a:t>Collect inputs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/>
              <a:t>Process via n8n + JavaScript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/>
              <a:t>AI (Gemini) generates recommendations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/>
              <a:t>Results sent back to web app</a:t>
            </a:r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95462BC6-CBE5-9505-BA33-FFD340B910DD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11839" t="34410" r="25619" b="3019"/>
          <a:stretch>
            <a:fillRect/>
          </a:stretch>
        </p:blipFill>
        <p:spPr>
          <a:xfrm>
            <a:off x="5687958" y="1179965"/>
            <a:ext cx="6504041" cy="4571999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2470485" y="207102"/>
            <a:ext cx="6955339" cy="758738"/>
          </a:xfrm>
        </p:spPr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FEASIBILITY AND VIABILITY</a:t>
            </a: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pic>
        <p:nvPicPr>
          <p:cNvPr id="9" name="Picture 2" descr="https://www.sih.gov.in/img1/SIH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1366" y="57097"/>
            <a:ext cx="2209120" cy="1122868"/>
          </a:xfrm>
          <a:prstGeom prst="rect">
            <a:avLst/>
          </a:prstGeom>
          <a:noFill/>
          <a:effectLst>
            <a:glow rad="139700">
              <a:schemeClr val="accent1">
                <a:satMod val="175000"/>
                <a:alpha val="40000"/>
              </a:schemeClr>
            </a:glo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FDCACF2F-CCD6-43F1-B435-502E924904B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" y="1"/>
            <a:ext cx="2054942" cy="978621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10A66F3E-DB45-382A-206B-B0B1E430333A}"/>
              </a:ext>
            </a:extLst>
          </p:cNvPr>
          <p:cNvSpPr txBox="1"/>
          <p:nvPr/>
        </p:nvSpPr>
        <p:spPr>
          <a:xfrm>
            <a:off x="275303" y="1281211"/>
            <a:ext cx="345112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 u="sng" dirty="0"/>
              <a:t>Feasibility :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0374928-83CD-5E57-C88A-EA6D3AD1C747}"/>
              </a:ext>
            </a:extLst>
          </p:cNvPr>
          <p:cNvSpPr txBox="1"/>
          <p:nvPr/>
        </p:nvSpPr>
        <p:spPr>
          <a:xfrm>
            <a:off x="597794" y="1796032"/>
            <a:ext cx="5652406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sz="2000" dirty="0"/>
              <a:t>Uses lightweight tech → easy to implement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sz="2000" dirty="0"/>
              <a:t>AI model (Gemini) ensures accurate crop recommendations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sz="2000" dirty="0"/>
              <a:t>Scalable workflow → can integrate with sensors &amp; weather APIs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DCAAB8E-11F0-170A-C0E9-02976BD74B17}"/>
              </a:ext>
            </a:extLst>
          </p:cNvPr>
          <p:cNvSpPr txBox="1"/>
          <p:nvPr/>
        </p:nvSpPr>
        <p:spPr>
          <a:xfrm>
            <a:off x="604146" y="4095211"/>
            <a:ext cx="5646054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sz="2000" dirty="0"/>
              <a:t>Addresses real farmer challenges (crop selection, climate risk)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sz="2000" dirty="0"/>
              <a:t>Improves productivity &amp; income 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sz="2000" dirty="0"/>
              <a:t>Low-cost solution, accessible via web/mobile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sz="2000" dirty="0"/>
              <a:t>High potential for government/NGO adoption in rural areas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19AA51F-92C0-DBFB-447B-6D31C5E61A08}"/>
              </a:ext>
            </a:extLst>
          </p:cNvPr>
          <p:cNvSpPr txBox="1"/>
          <p:nvPr/>
        </p:nvSpPr>
        <p:spPr>
          <a:xfrm>
            <a:off x="275303" y="3559265"/>
            <a:ext cx="6096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 u="sng" dirty="0"/>
              <a:t>Viability :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BD7BADDB-C406-ED0C-7187-BBABD688C713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20628" t="12600" r="23163" b="11701"/>
          <a:stretch>
            <a:fillRect/>
          </a:stretch>
        </p:blipFill>
        <p:spPr>
          <a:xfrm>
            <a:off x="6792244" y="1740769"/>
            <a:ext cx="1197107" cy="1212984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906C7D50-873E-2F9F-4306-FCB1F2833EA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60726" y="1156406"/>
            <a:ext cx="1374953" cy="1344002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E510E9DF-57C2-35D3-1618-B3EC6CBFFCBA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21290" r="23549"/>
          <a:stretch>
            <a:fillRect/>
          </a:stretch>
        </p:blipFill>
        <p:spPr>
          <a:xfrm>
            <a:off x="10052739" y="1796032"/>
            <a:ext cx="1374953" cy="1289685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0F769070-76D8-6F5B-2CA9-FA5921BE92BE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t="26815" b="27736"/>
          <a:stretch>
            <a:fillRect/>
          </a:stretch>
        </p:blipFill>
        <p:spPr>
          <a:xfrm>
            <a:off x="7294524" y="3315526"/>
            <a:ext cx="3265997" cy="86192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D990FB72-784B-9EE9-1050-4317ACEDFA97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243848" y="4364559"/>
            <a:ext cx="2589571" cy="1294786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CFDDE6AB-44D4-E032-54E6-D584F8FCF8F0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398950" y="4178241"/>
            <a:ext cx="2571750" cy="1714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3218538" y="324907"/>
            <a:ext cx="5459232" cy="653715"/>
          </a:xfrm>
        </p:spPr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IMPACT AND BENEFITS</a:t>
            </a: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pic>
        <p:nvPicPr>
          <p:cNvPr id="9" name="Picture 2" descr="https://www.sih.gov.in/img1/SIH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1366" y="57097"/>
            <a:ext cx="2209120" cy="1122868"/>
          </a:xfrm>
          <a:prstGeom prst="rect">
            <a:avLst/>
          </a:prstGeom>
          <a:noFill/>
          <a:effectLst>
            <a:glow rad="139700">
              <a:schemeClr val="accent1">
                <a:satMod val="175000"/>
                <a:alpha val="40000"/>
              </a:schemeClr>
            </a:glo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2F0763D4-C64A-7CFE-9989-073363C8786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" y="1"/>
            <a:ext cx="2054942" cy="978621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D698B194-3519-D858-A0E8-CC16EE78B93A}"/>
              </a:ext>
            </a:extLst>
          </p:cNvPr>
          <p:cNvSpPr txBox="1"/>
          <p:nvPr/>
        </p:nvSpPr>
        <p:spPr>
          <a:xfrm>
            <a:off x="540774" y="1847897"/>
            <a:ext cx="7452852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dirty="0"/>
              <a:t>✅ Better Crop Yield – data-driven decisions boost productivity</a:t>
            </a:r>
          </a:p>
          <a:p>
            <a:endParaRPr lang="en-IN" sz="2000" dirty="0"/>
          </a:p>
          <a:p>
            <a:r>
              <a:rPr lang="en-IN" sz="2000" dirty="0"/>
              <a:t>✅ Reduced Risk – avoid wrong crop choices</a:t>
            </a:r>
          </a:p>
          <a:p>
            <a:endParaRPr lang="en-IN" sz="2000" dirty="0"/>
          </a:p>
          <a:p>
            <a:r>
              <a:rPr lang="en-IN" sz="2000" dirty="0"/>
              <a:t>✅ Farmer-Friendly – simple and easy-to-use web app</a:t>
            </a:r>
          </a:p>
          <a:p>
            <a:endParaRPr lang="en-IN" sz="2000" dirty="0"/>
          </a:p>
          <a:p>
            <a:r>
              <a:rPr lang="en-IN" sz="2000" dirty="0"/>
              <a:t>✅ Sustainable Farming – aligns with soil &amp; climate conditions</a:t>
            </a:r>
          </a:p>
          <a:p>
            <a:endParaRPr lang="en-IN" sz="2000" dirty="0"/>
          </a:p>
          <a:p>
            <a:r>
              <a:rPr lang="en-IN" sz="2000" dirty="0"/>
              <a:t>✅ Scalable Solution – can expand to multiple regions &amp; languages</a:t>
            </a:r>
          </a:p>
        </p:txBody>
      </p:sp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2570694" y="339833"/>
            <a:ext cx="6754920" cy="557395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RESEARCH  AND REFERENCES</a:t>
            </a: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2298290" y="3447289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pic>
        <p:nvPicPr>
          <p:cNvPr id="11" name="Picture 2" descr="https://www.sih.gov.in/img1/SIH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1366" y="57097"/>
            <a:ext cx="2209120" cy="1122868"/>
          </a:xfrm>
          <a:prstGeom prst="rect">
            <a:avLst/>
          </a:prstGeom>
          <a:noFill/>
          <a:effectLst>
            <a:glow rad="139700">
              <a:schemeClr val="accent1">
                <a:satMod val="175000"/>
                <a:alpha val="40000"/>
              </a:schemeClr>
            </a:glo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871A568B-A275-EE63-6B39-2B5B5791EE2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" y="1"/>
            <a:ext cx="2054942" cy="978621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547D0A21-A2C9-837F-141D-258DC226D04D}"/>
              </a:ext>
            </a:extLst>
          </p:cNvPr>
          <p:cNvSpPr txBox="1"/>
          <p:nvPr/>
        </p:nvSpPr>
        <p:spPr>
          <a:xfrm>
            <a:off x="225701" y="5369243"/>
            <a:ext cx="259571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/>
              <a:t>OUR  PROTOTYPE:</a:t>
            </a:r>
          </a:p>
        </p:txBody>
      </p:sp>
      <p:sp>
        <p:nvSpPr>
          <p:cNvPr id="5" name="TextBox 4">
            <a:hlinkClick r:id="rId5"/>
            <a:extLst>
              <a:ext uri="{FF2B5EF4-FFF2-40B4-BE49-F238E27FC236}">
                <a16:creationId xmlns:a16="http://schemas.microsoft.com/office/drawing/2014/main" id="{AB938691-C0D9-1A89-8A96-4348B9F060AB}"/>
              </a:ext>
            </a:extLst>
          </p:cNvPr>
          <p:cNvSpPr txBox="1"/>
          <p:nvPr/>
        </p:nvSpPr>
        <p:spPr>
          <a:xfrm>
            <a:off x="2054943" y="5800700"/>
            <a:ext cx="64892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u="sng" dirty="0">
                <a:solidFill>
                  <a:srgbClr val="15115D"/>
                </a:solidFill>
              </a:rPr>
              <a:t>Visit </a:t>
            </a:r>
            <a:r>
              <a:rPr lang="en-IN" u="sng" dirty="0" err="1">
                <a:solidFill>
                  <a:srgbClr val="15115D"/>
                </a:solidFill>
              </a:rPr>
              <a:t>Cropify</a:t>
            </a:r>
            <a:r>
              <a:rPr lang="en-IN" u="sng" dirty="0">
                <a:solidFill>
                  <a:srgbClr val="15115D"/>
                </a:solidFill>
              </a:rPr>
              <a:t> Web App 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33A0184-93C8-FE68-6A2D-8E12BD0E25A3}"/>
              </a:ext>
            </a:extLst>
          </p:cNvPr>
          <p:cNvSpPr txBox="1"/>
          <p:nvPr/>
        </p:nvSpPr>
        <p:spPr>
          <a:xfrm>
            <a:off x="1726495" y="5784087"/>
            <a:ext cx="58457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👉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37DA604-FC98-1A52-C84C-0E663117C3C7}"/>
              </a:ext>
            </a:extLst>
          </p:cNvPr>
          <p:cNvSpPr txBox="1"/>
          <p:nvPr/>
        </p:nvSpPr>
        <p:spPr>
          <a:xfrm>
            <a:off x="225701" y="1414274"/>
            <a:ext cx="7187822" cy="26314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IN" sz="1400" u="sng" dirty="0">
                <a:solidFill>
                  <a:srgbClr val="15115D"/>
                </a:solidFill>
                <a:hlinkClick r:id="rId6" action="ppaction://hlinkfil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M. S. Ali, B. Rohit, R. Roshith, V. Biradar and M. A. Jabbar, "Crop Prediction &amp; Fertilizer Recommendation using AODE Algorithm," 2024 IEEE 9th International Conference for Convergence in Technology (I2CT), Pune, India, 2024, pp. 1-5, </a:t>
            </a:r>
            <a:r>
              <a:rPr lang="en-IN" sz="1400" u="sng" dirty="0" err="1">
                <a:solidFill>
                  <a:srgbClr val="15115D"/>
                </a:solidFill>
                <a:hlinkClick r:id="rId6" action="ppaction://hlinkfil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doi</a:t>
            </a:r>
            <a:r>
              <a:rPr lang="en-IN" sz="1400" u="sng" dirty="0">
                <a:solidFill>
                  <a:srgbClr val="15115D"/>
                </a:solidFill>
                <a:hlinkClick r:id="rId6" action="ppaction://hlinkfil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: 10.1109/I2CT61223.2024.10543894. </a:t>
            </a:r>
            <a:endParaRPr lang="en-IN" sz="1400" u="sng" dirty="0">
              <a:solidFill>
                <a:srgbClr val="15115D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v"/>
            </a:pPr>
            <a:endParaRPr lang="en-IN" sz="1100" u="sng" dirty="0">
              <a:solidFill>
                <a:srgbClr val="15115D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IN" sz="1200" dirty="0">
                <a:solidFill>
                  <a:srgbClr val="15115D"/>
                </a:solidFill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M. Ravindra Kumar, C. Mohan Babu, S. Likhitha, N. Pruthvi, N. Nayana and R. M. Meghana, "An AI-Based Guiding System That Recommends the Optimal Crop Based On the Environment and Soil Type," 2025 International Conference on Knowledge Engineering and Communication Systems (ICKECS), </a:t>
            </a:r>
            <a:r>
              <a:rPr lang="en-IN" sz="1200" dirty="0" err="1">
                <a:solidFill>
                  <a:srgbClr val="15115D"/>
                </a:solidFill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Chickballapur</a:t>
            </a:r>
            <a:r>
              <a:rPr lang="en-IN" sz="1200" dirty="0">
                <a:solidFill>
                  <a:srgbClr val="15115D"/>
                </a:solidFill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, India, 2025, pp. 1-5, </a:t>
            </a:r>
            <a:r>
              <a:rPr lang="en-IN" sz="1200" dirty="0" err="1">
                <a:solidFill>
                  <a:srgbClr val="15115D"/>
                </a:solidFill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doi</a:t>
            </a:r>
            <a:r>
              <a:rPr lang="en-IN" sz="1200" dirty="0">
                <a:solidFill>
                  <a:srgbClr val="15115D"/>
                </a:solidFill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: 10.1109/ICKECS65700.2025.11034869.</a:t>
            </a:r>
            <a:endParaRPr lang="en-IN" sz="1200" dirty="0">
              <a:solidFill>
                <a:srgbClr val="15115D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v"/>
            </a:pPr>
            <a:endParaRPr lang="en-IN" sz="800" u="sng" dirty="0">
              <a:solidFill>
                <a:srgbClr val="15115D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IN" sz="1400" dirty="0">
                <a:solidFill>
                  <a:srgbClr val="15115D"/>
                </a:solidFill>
                <a:hlinkClick r:id="rId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A. Sharma, M. Bhargava and A. V. Khanna, "AI-Farm: A crop recommendation system," </a:t>
            </a:r>
            <a:r>
              <a:rPr lang="en-IN" sz="1400" i="1" dirty="0">
                <a:solidFill>
                  <a:srgbClr val="15115D"/>
                </a:solidFill>
                <a:hlinkClick r:id="rId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2021 International Conference on Advances in Computing and Communications (ICACC)</a:t>
            </a:r>
            <a:r>
              <a:rPr lang="en-IN" sz="1400" dirty="0">
                <a:solidFill>
                  <a:srgbClr val="15115D"/>
                </a:solidFill>
                <a:hlinkClick r:id="rId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, Kochi, </a:t>
            </a:r>
            <a:r>
              <a:rPr lang="en-IN" sz="1400" dirty="0" err="1">
                <a:solidFill>
                  <a:srgbClr val="15115D"/>
                </a:solidFill>
                <a:hlinkClick r:id="rId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Kakkanad</a:t>
            </a:r>
            <a:r>
              <a:rPr lang="en-IN" sz="1400" dirty="0">
                <a:solidFill>
                  <a:srgbClr val="15115D"/>
                </a:solidFill>
                <a:hlinkClick r:id="rId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, India, 2021, pp. 1-7, </a:t>
            </a:r>
            <a:r>
              <a:rPr lang="en-IN" sz="1400" dirty="0" err="1">
                <a:solidFill>
                  <a:srgbClr val="15115D"/>
                </a:solidFill>
                <a:hlinkClick r:id="rId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doi</a:t>
            </a:r>
            <a:r>
              <a:rPr lang="en-IN" sz="1400" dirty="0">
                <a:solidFill>
                  <a:srgbClr val="15115D"/>
                </a:solidFill>
                <a:hlinkClick r:id="rId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: 10.1109/ICACC-202152719.2021.9708104</a:t>
            </a:r>
            <a:r>
              <a:rPr lang="en-IN" sz="1400" dirty="0"/>
              <a:t>.</a:t>
            </a:r>
            <a:endParaRPr lang="en-IN" sz="1400" u="sng" dirty="0">
              <a:solidFill>
                <a:srgbClr val="15115D"/>
              </a:solidFill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74879" y="1413158"/>
            <a:ext cx="4206716" cy="4572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ysClr val="windowText" lastClr="000000"/>
      </a:dk1>
      <a:lt1>
        <a:sysClr val="window" lastClr="FFFFFF"/>
      </a:lt1>
      <a:dk2>
        <a:srgbClr val="455F51"/>
      </a:dk2>
      <a:lt2>
        <a:srgbClr val="E2DFCC"/>
      </a:lt2>
      <a:accent1>
        <a:srgbClr val="99CB38"/>
      </a:accent1>
      <a:accent2>
        <a:srgbClr val="63A537"/>
      </a:accent2>
      <a:accent3>
        <a:srgbClr val="37A76F"/>
      </a:accent3>
      <a:accent4>
        <a:srgbClr val="44C1A3"/>
      </a:accent4>
      <a:accent5>
        <a:srgbClr val="4EB3CF"/>
      </a:accent5>
      <a:accent6>
        <a:srgbClr val="51C3F9"/>
      </a:accent6>
      <a:hlink>
        <a:srgbClr val="6B9F25"/>
      </a:hlink>
      <a:folHlink>
        <a:srgbClr val="B26B02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D26EA377-59BD-4C9C-9D94-EE8416EE4C7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8272</TotalTime>
  <Words>578</Words>
  <Application>Microsoft Office PowerPoint</Application>
  <PresentationFormat>Widescreen</PresentationFormat>
  <Paragraphs>85</Paragraphs>
  <Slides>6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6" baseType="lpstr">
      <vt:lpstr>ＭＳ Ｐゴシック</vt:lpstr>
      <vt:lpstr>Aptos Narrow</vt:lpstr>
      <vt:lpstr>Arial</vt:lpstr>
      <vt:lpstr>Calibri</vt:lpstr>
      <vt:lpstr>Calibri Light</vt:lpstr>
      <vt:lpstr>Garamond</vt:lpstr>
      <vt:lpstr>Times New Roman</vt:lpstr>
      <vt:lpstr>TradeGothic</vt:lpstr>
      <vt:lpstr>Wingdings</vt:lpstr>
      <vt:lpstr>Retrospect</vt:lpstr>
      <vt:lpstr>SMART INDIA HACKATHON 2025</vt:lpstr>
      <vt:lpstr>PowerPoint Presentation</vt:lpstr>
      <vt:lpstr>TECHNICAL  APPROACH</vt:lpstr>
      <vt:lpstr>FEASIBILITY AND VIABILITY</vt:lpstr>
      <vt:lpstr>IMPACT AND BENEFITS</vt:lpstr>
      <vt:lpstr>RESEARCH  AND REFERENCES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star 3</cp:lastModifiedBy>
  <cp:revision>160</cp:revision>
  <dcterms:created xsi:type="dcterms:W3CDTF">2013-12-12T18:46:50Z</dcterms:created>
  <dcterms:modified xsi:type="dcterms:W3CDTF">2025-09-23T03:56:16Z</dcterms:modified>
  <cp:category/>
</cp:coreProperties>
</file>